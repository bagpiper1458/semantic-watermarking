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132448045f4a34" /><Relationship Type="http://schemas.openxmlformats.org/officeDocument/2006/relationships/extended-properties" Target="/docProps/app.xml" Id="Rf533b407bec048f6" /><Relationship Type="http://schemas.openxmlformats.org/officeDocument/2006/relationships/officeDocument" Target="/ppt/presentation.xml" Id="R1d5c8cb2970c47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eb5835bace4be8"/>
  </p:sldMasterIdLst>
  <p:notesMasterIdLst>
    <p:notesMasterId xmlns:r="http://schemas.openxmlformats.org/officeDocument/2006/relationships" r:id="R86ca1c30c5454391"/>
  </p:notesMasterIdLst>
  <p:sldIdLst>
    <p:sldId xmlns:r="http://schemas.openxmlformats.org/officeDocument/2006/relationships" id="256" r:id="R132fff874c2b4fe9"/>
    <p:sldId xmlns:r="http://schemas.openxmlformats.org/officeDocument/2006/relationships" id="257" r:id="R8c5871ca8e9c44c8"/>
    <p:sldId xmlns:r="http://schemas.openxmlformats.org/officeDocument/2006/relationships" id="258" r:id="R06dd029eb4b04e59"/>
    <p:sldId xmlns:r="http://schemas.openxmlformats.org/officeDocument/2006/relationships" id="259" r:id="Rad67fb210e38469a"/>
    <p:sldId xmlns:r="http://schemas.openxmlformats.org/officeDocument/2006/relationships" id="260" r:id="Rd4c6cd80ba734236"/>
    <p:sldId xmlns:r="http://schemas.openxmlformats.org/officeDocument/2006/relationships" id="261" r:id="Rdb837eef67c1414a"/>
    <p:sldId xmlns:r="http://schemas.openxmlformats.org/officeDocument/2006/relationships" id="262" r:id="R46c713b65f6547c9"/>
    <p:sldId xmlns:r="http://schemas.openxmlformats.org/officeDocument/2006/relationships" id="263" r:id="R02a8d89434ba49ab"/>
    <p:sldId xmlns:r="http://schemas.openxmlformats.org/officeDocument/2006/relationships" id="264" r:id="R39c921bfbfd846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a18e8482a54f47" /><Relationship Type="http://schemas.openxmlformats.org/officeDocument/2006/relationships/slideMaster" Target="/ppt/slideMasters/slideMaster1.xml" Id="Ra0eb5835bace4be8" /><Relationship Type="http://schemas.openxmlformats.org/officeDocument/2006/relationships/notesMaster" Target="/ppt/notesMasters/notesMaster1.xml" Id="R86ca1c30c5454391" /><Relationship Type="http://schemas.openxmlformats.org/officeDocument/2006/relationships/presProps" Target="/ppt/presProps.xml" Id="R9b9c8a27cf924666" /><Relationship Type="http://schemas.openxmlformats.org/officeDocument/2006/relationships/tableStyles" Target="/ppt/tableStyles.xml" Id="R9b5cb10f9f994737" /><Relationship Type="http://schemas.openxmlformats.org/officeDocument/2006/relationships/slide" Target="/ppt/slides/slide1.xml" Id="R132fff874c2b4fe9" /><Relationship Type="http://schemas.openxmlformats.org/officeDocument/2006/relationships/slide" Target="/ppt/slides/slide2.xml" Id="R8c5871ca8e9c44c8" /><Relationship Type="http://schemas.openxmlformats.org/officeDocument/2006/relationships/slide" Target="/ppt/slides/slide3.xml" Id="R06dd029eb4b04e59" /><Relationship Type="http://schemas.openxmlformats.org/officeDocument/2006/relationships/slide" Target="/ppt/slides/slide4.xml" Id="Rad67fb210e38469a" /><Relationship Type="http://schemas.openxmlformats.org/officeDocument/2006/relationships/slide" Target="/ppt/slides/slide5.xml" Id="Rd4c6cd80ba734236" /><Relationship Type="http://schemas.openxmlformats.org/officeDocument/2006/relationships/slide" Target="/ppt/slides/slide6.xml" Id="Rdb837eef67c1414a" /><Relationship Type="http://schemas.openxmlformats.org/officeDocument/2006/relationships/slide" Target="/ppt/slides/slide7.xml" Id="R46c713b65f6547c9" /><Relationship Type="http://schemas.openxmlformats.org/officeDocument/2006/relationships/slide" Target="/ppt/slides/slide8.xml" Id="R02a8d89434ba49ab" /><Relationship Type="http://schemas.openxmlformats.org/officeDocument/2006/relationships/slide" Target="/ppt/slides/slide9.xml" Id="R39c921bfbfd846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7291a517bb4e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00f6eccdcf4288" /><Relationship Type="http://schemas.openxmlformats.org/officeDocument/2006/relationships/notesMaster" Target="/ppt/notesMasters/notesMaster1.xml" Id="R178ad5ca0bda4f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707ba7d45c4706" /><Relationship Type="http://schemas.openxmlformats.org/officeDocument/2006/relationships/notesMaster" Target="/ppt/notesMasters/notesMaster1.xml" Id="R207f72f27c974d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6a2f7c85494bed" /><Relationship Type="http://schemas.openxmlformats.org/officeDocument/2006/relationships/notesMaster" Target="/ppt/notesMasters/notesMaster1.xml" Id="R01f0d1e209674a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53d416327b4ba1" /><Relationship Type="http://schemas.openxmlformats.org/officeDocument/2006/relationships/notesMaster" Target="/ppt/notesMasters/notesMaster1.xml" Id="R28ba357b895141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e50423efa245d6" /><Relationship Type="http://schemas.openxmlformats.org/officeDocument/2006/relationships/notesMaster" Target="/ppt/notesMasters/notesMaster1.xml" Id="R85ee93f380f040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88bfb49d6a41fd" /><Relationship Type="http://schemas.openxmlformats.org/officeDocument/2006/relationships/notesMaster" Target="/ppt/notesMasters/notesMaster1.xml" Id="Rf47fa024ffa74c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230efe57884678" /><Relationship Type="http://schemas.openxmlformats.org/officeDocument/2006/relationships/notesMaster" Target="/ppt/notesMasters/notesMaster1.xml" Id="R78379be80bcd43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64e5291048468c" /><Relationship Type="http://schemas.openxmlformats.org/officeDocument/2006/relationships/notesMaster" Target="/ppt/notesMasters/notesMaster1.xml" Id="Rbaef0c80f5994b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9b0cbcec2341e5" /><Relationship Type="http://schemas.openxmlformats.org/officeDocument/2006/relationships/notesMaster" Target="/ppt/notesMasters/notesMaster1.xml" Id="R6b045c607cd443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562049ed949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ec34329b4e41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9c34a3258c4d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ffdd31a13246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79cfcfcb7a44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4dbf53596249a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cefff35c44ba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ce7c3eaf7848e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76abd32a4240ae" /><Relationship Type="http://schemas.openxmlformats.org/officeDocument/2006/relationships/image" Target="/ppt/media/image.png" Id="R970f4a14705144b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3ba06c7c544209" /><Relationship Type="http://schemas.openxmlformats.org/officeDocument/2006/relationships/image" Target="/ppt/media/image2.png" Id="R55eb414aad5b487b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970f4a14705144b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55eb414aad5b487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7ac99d4d17431d" /><Relationship Type="http://schemas.openxmlformats.org/officeDocument/2006/relationships/slideLayout" Target="/ppt/slideLayouts/slideLayout1.xml" Id="R790ec111c3884f3d" /><Relationship Type="http://schemas.openxmlformats.org/officeDocument/2006/relationships/slideLayout" Target="/ppt/slideLayouts/slideLayout2.xml" Id="Rbb87a7c829614031" /><Relationship Type="http://schemas.openxmlformats.org/officeDocument/2006/relationships/slideLayout" Target="/ppt/slideLayouts/slideLayout3.xml" Id="R9635a2493e5846e4" /><Relationship Type="http://schemas.openxmlformats.org/officeDocument/2006/relationships/slideLayout" Target="/ppt/slideLayouts/slideLayout4.xml" Id="Re7db69db2933497f" /><Relationship Type="http://schemas.openxmlformats.org/officeDocument/2006/relationships/slideLayout" Target="/ppt/slideLayouts/slideLayout5.xml" Id="R3149ae8d83314398" /><Relationship Type="http://schemas.openxmlformats.org/officeDocument/2006/relationships/slideLayout" Target="/ppt/slideLayouts/slideLayout6.xml" Id="R43449c98a0e3443a" /><Relationship Type="http://schemas.openxmlformats.org/officeDocument/2006/relationships/slideLayout" Target="/ppt/slideLayouts/slideLayout7.xml" Id="R0ad49e56c3e547b2" /><Relationship Type="http://schemas.openxmlformats.org/officeDocument/2006/relationships/slideLayout" Target="/ppt/slideLayouts/slideLayout8.xml" Id="R2324a139020046b2" /><Relationship Type="http://schemas.openxmlformats.org/officeDocument/2006/relationships/slideLayout" Target="/ppt/slideLayouts/slideLayout9.xml" Id="R8ed21ddeea06426a" /><Relationship Type="http://schemas.openxmlformats.org/officeDocument/2006/relationships/slideLayout" Target="/ppt/slideLayouts/slideLayout10.xml" Id="R37493f9206204f3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0ec111c3884f3d"/>
    <p:sldLayoutId xmlns:r="http://schemas.openxmlformats.org/officeDocument/2006/relationships" id="2147483650" r:id="Rbb87a7c829614031"/>
    <p:sldLayoutId xmlns:r="http://schemas.openxmlformats.org/officeDocument/2006/relationships" id="2147483651" r:id="R9635a2493e5846e4"/>
    <p:sldLayoutId xmlns:r="http://schemas.openxmlformats.org/officeDocument/2006/relationships" id="2147483652" r:id="Re7db69db2933497f"/>
    <p:sldLayoutId xmlns:r="http://schemas.openxmlformats.org/officeDocument/2006/relationships" id="2147483653" r:id="R3149ae8d83314398"/>
    <p:sldLayoutId xmlns:r="http://schemas.openxmlformats.org/officeDocument/2006/relationships" id="2147483654" r:id="R43449c98a0e3443a"/>
    <p:sldLayoutId xmlns:r="http://schemas.openxmlformats.org/officeDocument/2006/relationships" id="2147483655" r:id="R0ad49e56c3e547b2"/>
    <p:sldLayoutId xmlns:r="http://schemas.openxmlformats.org/officeDocument/2006/relationships" id="2147483656" r:id="R2324a139020046b2"/>
    <p:sldLayoutId xmlns:r="http://schemas.openxmlformats.org/officeDocument/2006/relationships" id="2147483657" r:id="R8ed21ddeea06426a"/>
    <p:sldLayoutId xmlns:r="http://schemas.openxmlformats.org/officeDocument/2006/relationships" id="2147483658" r:id="R37493f9206204f3c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885b6b1e645e3" /><Relationship Type="http://schemas.openxmlformats.org/officeDocument/2006/relationships/notesSlide" Target="/ppt/notesSlides/notesSlide1.xml" Id="R9eaa53580a9f48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84203363d4c4ed3" /><Relationship Type="http://schemas.openxmlformats.org/officeDocument/2006/relationships/notesSlide" Target="/ppt/notesSlides/notesSlide2.xml" Id="R15e020281f9043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531664567f403b" /><Relationship Type="http://schemas.openxmlformats.org/officeDocument/2006/relationships/chart" Target="/ppt/slides/charts/chart1.xml" Id="R88550a82dd834da7" /><Relationship Type="http://schemas.openxmlformats.org/officeDocument/2006/relationships/notesSlide" Target="/ppt/notesSlides/notesSlide3.xml" Id="Rfa034df29a5a4b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fe250ce1ca4ca7" /><Relationship Type="http://schemas.openxmlformats.org/officeDocument/2006/relationships/image" Target="/ppt/media/image3.png" Id="R559f844121bb4e01" /><Relationship Type="http://schemas.openxmlformats.org/officeDocument/2006/relationships/notesSlide" Target="/ppt/notesSlides/notesSlide4.xml" Id="R3b0f9ee5719d42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ae1f4222f74081" /><Relationship Type="http://schemas.openxmlformats.org/officeDocument/2006/relationships/image" Target="/ppt/media/image4.png" Id="R872de3c7fb7042b2" /><Relationship Type="http://schemas.openxmlformats.org/officeDocument/2006/relationships/notesSlide" Target="/ppt/notesSlides/notesSlide5.xml" Id="R9480045e14994a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27f4e5a4cb4dea" /><Relationship Type="http://schemas.openxmlformats.org/officeDocument/2006/relationships/notesSlide" Target="/ppt/notesSlides/notesSlide6.xml" Id="Rf4e0f5bce4104c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d8cec7918e435c" /><Relationship Type="http://schemas.openxmlformats.org/officeDocument/2006/relationships/notesSlide" Target="/ppt/notesSlides/notesSlide7.xml" Id="Rf22146369f9c49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cccfbe43cdd4103" /><Relationship Type="http://schemas.openxmlformats.org/officeDocument/2006/relationships/notesSlide" Target="/ppt/notesSlides/notesSlide8.xml" Id="Rc943905ec7194b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c5587b62be24553" /><Relationship Type="http://schemas.openxmlformats.org/officeDocument/2006/relationships/notesSlide" Target="/ppt/notesSlides/notesSlide9.xml" Id="Rac28eb73e5e94085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WAVES-Core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5"/>
                <c:pt idx="0">
                  <c:v>Tree-Ring</c:v>
                </c:pt>
                <c:pt idx="1">
                  <c:v>METR</c:v>
                </c:pt>
                <c:pt idx="2">
                  <c:v>RingID</c:v>
                </c:pt>
                <c:pt idx="3">
                  <c:v>HSTR</c:v>
                </c:pt>
                <c:pt idx="4">
                  <c:v>HSQR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5"/>
                <c:pt idx="0">
                  <c:v>0.325</c:v>
                </c:pt>
                <c:pt idx="1">
                  <c:v>0.669</c:v>
                </c:pt>
                <c:pt idx="2">
                  <c:v>0.778</c:v>
                </c:pt>
                <c:pt idx="3">
                  <c:v>0.603</c:v>
                </c:pt>
                <c:pt idx="4">
                  <c:v>0.666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StirMark-compatible</c:v>
                </c:pt>
              </c:strCache>
            </c:strRef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solidFill>
                <a:schemeClr val="tx2">
                  <a:lumMod val="50000"/>
                  <a:lumOff val="50000"/>
                </a:schemeClr>
              </a:solidFill>
            </a:ln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5"/>
                <c:pt idx="0">
                  <c:v>Tree-Ring</c:v>
                </c:pt>
                <c:pt idx="1">
                  <c:v>METR</c:v>
                </c:pt>
                <c:pt idx="2">
                  <c:v>RingID</c:v>
                </c:pt>
                <c:pt idx="3">
                  <c:v>HSTR</c:v>
                </c:pt>
                <c:pt idx="4">
                  <c:v>HSQR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5"/>
                <c:pt idx="0">
                  <c:v>0.288</c:v>
                </c:pt>
                <c:pt idx="1">
                  <c:v>0.487</c:v>
                </c:pt>
                <c:pt idx="2">
                  <c:v>0.806</c:v>
                </c:pt>
                <c:pt idx="3">
                  <c:v>0.394</c:v>
                </c:pt>
                <c:pt idx="4">
                  <c:v>0.425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BFE633A-551A-54B1-5F36-B66CCEBD8D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When verification survives</a:t>
            </a:r>
          </a:p>
          <a:p xmlns:a="http://schemas.openxmlformats.org/drawingml/2006/main">
            <a:r>
              <a:rPr sz="7200"/>
              <a:t>but identification fails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5FD18192-DA46-5723-C973-8A30A162A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89429"/>
            <a:ext cx="3568700" cy="121841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WAVES-Core + StirMark-compatible</a:t>
            </a:r>
          </a:p>
          <a:p xmlns:a="http://schemas.openxmlformats.org/drawingml/2006/main">
            <a:r>
              <a:rPr sz="2000"/>
              <a:t>Five semantic watermarking methods</a:t>
            </a:r>
          </a:p>
          <a:p xmlns:a="http://schemas.openxmlformats.org/drawingml/2006/main">
            <a:r>
              <a:rPr sz="2000"/>
              <a:t>Fixed-key pilot, N=20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38267A14-2A60-F4BB-37BE-E21D050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3578411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SEMANTIC WATERMARKING BENCHMARK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9AD72C-F254-8F77-B9BB-AA0D9A0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RTX 3090 | 2,048-WAY ID</a:t>
            </a:r>
          </a:p>
        </p:txBody>
      </p:sp>
    </p:spTree>
    <p:extLst>
      <p:ext uri="{BB962C8B-B14F-4D97-AF65-F5344CB8AC3E}">
        <p14:creationId xmlns:p14="http://schemas.microsoft.com/office/powerpoint/2010/main" val="5632416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3A1C5C1-82D9-B99C-E103-C2AFD667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41925A4-50C3-437F-A6B5-E4058446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00BBE53-5F2F-7CC8-0538-CFB4A204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8E121FC-0773-4D41-B407-A75A7E27DDE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2800841"/>
            <a:ext cx="2949339" cy="990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Methods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Tree-Ring, METR, RingID, HSFW-HSTR, and HSFW-HSQR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9D4C67A-8BD6-C687-51C1-8B93C00A9C1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2800841"/>
            <a:ext cx="2949339" cy="990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Conditions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16 WAVES-Core + 8 StirMark-compatible + clean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7792D87E-883F-7EB3-D970-8BBDA3A4CEB0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2800841"/>
            <a:ext cx="2949339" cy="990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Decision tasks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Claimed-key verification and exhaustive identification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C616EA3E-3493-D910-145D-D2D69654D4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 design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29AC257-FA74-9B02-D6B1-395CA5EB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678709"/>
            <a:ext cx="2940124" cy="1931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38336FA-8E2C-D51C-CB90-13A312B5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678709"/>
            <a:ext cx="2940124" cy="1931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2C7FEC6-8AD3-C75F-0FD0-2C5E2C8F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678709"/>
            <a:ext cx="2940124" cy="1931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2,048</a:t>
            </a:r>
          </a:p>
        </p:txBody>
      </p:sp>
    </p:spTree>
    <p:extLst>
      <p:ext uri="{BB962C8B-B14F-4D97-AF65-F5344CB8AC3E}">
        <p14:creationId xmlns:p14="http://schemas.microsoft.com/office/powerpoint/2010/main" val="14599129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378F6A60-947D-E6BF-D14C-3BCF6C2DA5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Identification under attack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46924B0-E252-6F41-AEF6-707576EE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774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0.778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6FBCDC5-76EC-145C-18F3-9CE37FE4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392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RingID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WAVES top-1</a:t>
            </a: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F99D628-85E5-7316-AD95-3EE427B9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9979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0.806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BB7D59C4-643D-649E-C83F-B879BFF2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97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RingID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StirMark top-1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E63CD2B-5701-6476-A7B4-22B60FFE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86CDAE5-C90E-598F-EF23-9C2405AA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356100"/>
            <a:ext cx="67129" cy="11520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00D826E-5909-476F-F491-0FBCE01C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0" y="4356100"/>
            <a:ext cx="67129" cy="11520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D234CE49-8AE1-9C3B-D7C5-6240A6EF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1709230"/>
            <a:ext cx="5292194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RingID leads both suites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Its radial construction preserves identity better than the alternatives, but family means conceal a concentrated crop failure.</a:t>
            </a:r>
          </a:p>
        </p:txBody>
      </p:sp>
      <p:graphicFrame>
        <p:nvGraphicFramePr>
          <p:cNvPr id="53" name="Chart 6"/>
          <p:cNvGraphicFramePr/>
          <p:nvPr/>
        </p:nvGraphicFramePr>
        <p:xfrm>
          <a:off xmlns:a="http://schemas.openxmlformats.org/drawingml/2006/main" x="638705" y="1254716"/>
          <a:ext xmlns:a="http://schemas.openxmlformats.org/drawingml/2006/main" cx="5124182" cy="5024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550a82dd834da7"/>
          </a:graphicData>
        </a:graphic>
      </p:graphicFrame>
    </p:spTree>
    <p:extLst>
      <p:ext uri="{BB962C8B-B14F-4D97-AF65-F5344CB8AC3E}">
        <p14:creationId xmlns:p14="http://schemas.microsoft.com/office/powerpoint/2010/main" val="766153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200"/>
              <a:t>Verification stays strong</a:t>
            </a:r>
          </a:p>
          <a:p xmlns:a="http://schemas.openxmlformats.org/drawingml/2006/main">
            <a:r>
              <a:rPr sz="4200"/>
              <a:t>across many attacks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957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4200"/>
              <a:t>Geometry is the verification bottleneck.</a:t>
            </a:r>
          </a:p>
        </p:txBody>
      </p:sp>
      <p:pic>
        <p:nvPicPr>
          <p:cNvPr id="5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f844121bb4e01"/>
          <a:stretch xmlns:a="http://schemas.openxmlformats.org/drawingml/2006/main"/>
        </p:blipFill>
        <p:spPr>
          <a:xfrm xmlns:a="http://schemas.openxmlformats.org/drawingml/2006/main">
            <a:off x="5930900" y="689769"/>
            <a:ext cx="6261100" cy="54784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200"/>
              <a:t>Identification fails</a:t>
            </a:r>
          </a:p>
          <a:p xmlns:a="http://schemas.openxmlformats.org/drawingml/2006/main">
            <a:r>
              <a:rPr sz="4200"/>
              <a:t>before detection does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957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4200"/>
              <a:t>Crop-resize drives every method to zero top-1.</a:t>
            </a:r>
          </a:p>
        </p:txBody>
      </p:sp>
      <p:pic>
        <p:nvPicPr>
          <p:cNvPr id="5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de3c7fb7042b2"/>
          <a:stretch xmlns:a="http://schemas.openxmlformats.org/drawingml/2006/main"/>
        </p:blipFill>
        <p:spPr>
          <a:xfrm xmlns:a="http://schemas.openxmlformats.org/drawingml/2006/main">
            <a:off x="5930900" y="689769"/>
            <a:ext cx="6261100" cy="54784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Geometric stress cases: TPR@1%FPR / ID Top-1</a:t>
            </a:r>
          </a:p>
        </p:txBody>
      </p:sp>
      <p:graphicFrame>
        <p:nvGraphicFramePr>
          <p:cNvPr id="536" name="Google Shape;644;p93"/>
          <p:cNvGraphicFramePr/>
          <p:nvPr/>
        </p:nvGraphicFramePr>
        <p:xfrm>
          <a:off xmlns:a="http://schemas.openxmlformats.org/drawingml/2006/main" x="393700" y="2374900"/>
          <a:ext xmlns:a="http://schemas.openxmlformats.org/drawingml/2006/main" cx="11404599" cy="34956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Method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Rotation 36 deg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Crop-resize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Center crop 25%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Affine 0.05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Tree-Ring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0.35 / 0.00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0.50 / 0.00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0.05 / 0.00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1.00 / 0.00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METR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0.00 / 0.00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0.05 / 0.00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0.60 / 0.00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0.10 / 0.00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RingID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1.00 / 1.00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0.35 / 0.00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1.00 / 0.00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1.00 / 1.00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HSFW-HSTR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0.00 / 0.00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0.10 / 0.00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0.10 / 0.00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1.00 / 0.10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HSFW-HSQR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0.10 / 0.00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0.15 / 0.00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0.45 / 0.00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0.35 / 0.00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Read as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verification / identity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verification / identity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verification / identity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verification / identity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Finding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RingID preserves rotation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all IDs collapse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presence can survive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only RingID is robust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RingID detects a cropped watermark,</a:t>
            </a:r>
          </a:p>
          <a:p xmlns:a="http://schemas.openxmlformats.org/drawingml/2006/main">
            <a:r>
              <a:rPr sz="4800"/>
              <a:t>but cannot recover its identity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Verification survives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25% crop: AUC 1.00 and TPR@1%FPR 1.00.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Identity collapses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Top-1 0.00 and top-5 0.00; bit accuracy remains 0.818.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D44F7AB-1763-C9DF-D07A-AAEE9DB5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335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EA69B8B-AC82-5D8D-6DC3-1435E10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602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Confirm at scale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N&gt;=200, multiple keys, paired confidence intervals</a:t>
            </a:r>
          </a:p>
        </p:txBody>
      </p:sp>
      <p:sp>
        <p:nvSpPr>
          <p:cNvPr id="2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6300F8B-E97D-EE9E-4225-90702D36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334" y="5544658"/>
            <a:ext cx="1686860" cy="2070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8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D866E886-664F-3FB7-D53F-EC59490B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67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164D62F-0E28-6899-D1A2-846CA2FA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347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B5E1C3-F19B-1098-5782-2ABB1D1A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614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Add synchronization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Estimate crop ratio and offset; decode normalized radial coordinates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D46C2F3-E047-949F-E426-85D04E8B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C2D97B83-3C45-E37A-21C3-D5F333EEE6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8967" y="5549772"/>
            <a:ext cx="1730533" cy="19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B8BE5863-55C6-337E-1F38-84416561E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next experiment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44FE8A3D-53A2-1416-CACF-BD6787D6F073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547346" y="5544658"/>
            <a:ext cx="1686860" cy="2070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C18CA270-D7FF-5F52-A97F-D8D6C3E5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A1F5EF-D65E-D2BC-463A-C5FFC2E3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69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4FBD0D2-0150-2466-E4B2-FBFCAE3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Target failures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25% crop and randomized crop-resize</a:t>
            </a:r>
          </a:p>
        </p:txBody>
      </p:sp>
    </p:spTree>
    <p:extLst>
      <p:ext uri="{BB962C8B-B14F-4D97-AF65-F5344CB8AC3E}">
        <p14:creationId xmlns:p14="http://schemas.microsoft.com/office/powerpoint/2010/main" val="6879125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F8946D07-EF38-4156-9549-CA4CDE02F36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Evidence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RingID leads overall, but high crop-resize gives 0/20 correct IDs.</a:t>
            </a:r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1D53B3DE-8957-4D95-B06C-D7ED2C28467E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Interpretation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Watermark presence and identity recovery are distinct robustness tasks.</a:t>
            </a: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594185DD-A853-45C0-9A6C-851A14C9EB09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Limits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N=20, fixed key 0, WAVES-Core only, and StirMark-compatible transforms.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C9B38197-EC73-47D8-8444-FED3640E8B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What the pilot establishes, and what it does not</a:t>
            </a:r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247699D7-C989-4E19-937D-05FF6866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433102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E41F8734-27EF-49CC-8E34-ADD21FE5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66" y="3429011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C45AD5A0-1B09-47AE-B94E-6040A3B8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64" y="3474581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83091246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2026-06-22T16:23:41.0450000Z</dcterms:created>
  <dcterms:modified xsi:type="dcterms:W3CDTF">2026-06-22T16:23:41.0450000Z</dcterms:modified>
</coreProperties>
</file>